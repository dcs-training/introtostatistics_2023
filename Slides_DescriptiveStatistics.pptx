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4"/>
  </p:notesMasterIdLst>
  <p:sldIdLst>
    <p:sldId id="256" r:id="rId5"/>
    <p:sldId id="374" r:id="rId6"/>
    <p:sldId id="375" r:id="rId7"/>
    <p:sldId id="323" r:id="rId8"/>
    <p:sldId id="328" r:id="rId9"/>
    <p:sldId id="390" r:id="rId10"/>
    <p:sldId id="391" r:id="rId11"/>
    <p:sldId id="392" r:id="rId12"/>
    <p:sldId id="376" r:id="rId13"/>
    <p:sldId id="393" r:id="rId14"/>
    <p:sldId id="394" r:id="rId15"/>
    <p:sldId id="395" r:id="rId16"/>
    <p:sldId id="389" r:id="rId17"/>
    <p:sldId id="388" r:id="rId18"/>
    <p:sldId id="377" r:id="rId19"/>
    <p:sldId id="383" r:id="rId20"/>
    <p:sldId id="336" r:id="rId21"/>
    <p:sldId id="371" r:id="rId22"/>
    <p:sldId id="372" r:id="rId23"/>
  </p:sldIdLst>
  <p:sldSz cx="12192000" cy="6858000"/>
  <p:notesSz cx="6858000" cy="9144000"/>
  <p:embeddedFontLst>
    <p:embeddedFont>
      <p:font typeface="Integral CF Bold" pitchFamily="2" charset="77"/>
      <p:bold r:id="rId25"/>
    </p:embeddedFont>
    <p:embeddedFont>
      <p:font typeface="ITFDEVANAGARI-BOOK" panose="02000000000000000000" pitchFamily="2" charset="0"/>
      <p:regular r:id="rId26"/>
    </p:embeddedFont>
    <p:embeddedFont>
      <p:font typeface="Source Sans Pro" panose="020B050303040302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IELIN Lucia" initials="ML" lastIdx="2" clrIdx="0">
    <p:extLst>
      <p:ext uri="{19B8F6BF-5375-455C-9EA6-DF929625EA0E}">
        <p15:presenceInfo xmlns:p15="http://schemas.microsoft.com/office/powerpoint/2012/main" userId="MICHIELIN Luc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5F"/>
    <a:srgbClr val="FD0E67"/>
    <a:srgbClr val="A7FF42"/>
    <a:srgbClr val="E6FB04"/>
    <a:srgbClr val="00CEC0"/>
    <a:srgbClr val="0E0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58437"/>
  </p:normalViewPr>
  <p:slideViewPr>
    <p:cSldViewPr snapToGrid="0">
      <p:cViewPr varScale="1">
        <p:scale>
          <a:sx n="70" d="100"/>
          <a:sy n="70" d="100"/>
        </p:scale>
        <p:origin x="23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3E376-DCEC-4E32-8E5C-951527E1D3F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98987-9F69-40EE-8450-32CA8752F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59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98987-9F69-40EE-8450-32CA8752F43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518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565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13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15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9681-A638-D59A-6EAC-1B82A392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B3726-DDB0-3161-9BDD-7B2F41F03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59A69-A8A8-21B6-7885-55A6C49EE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4916C-E2FE-49B2-ADBC-56287C2C6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91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ACD3-342B-EFC4-4ABE-86B8421B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471FA-47F8-1114-B283-89D0D9DF6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53F03-805E-1A70-27AF-A34E82438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11AA7-6FA7-C5E9-A2EC-572F1B01F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020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2DEB9-5155-5183-D152-58EEEC46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2FDEB-8F27-0688-A986-50BE6B8CD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4F10C-D91A-9271-45B0-F15A4306F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32014-518F-6144-4D2D-1DE173C78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859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353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EAA9-5854-5C36-AA44-6BB3946E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670DE-57C1-ADE6-1D91-384502341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C4B15-1196-15A7-C22D-CEC891889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DB0C1-2375-B7C2-836D-BE9708E33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77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EF48C-C6C6-80B2-2A8D-581B3CA9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FA9D7-976E-D4C4-9C2D-E8ECA0C64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3FD18-F348-D989-903B-C186FA97A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518CC-D811-887B-B7A4-3FE1120DA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047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5FEF-C070-6636-864E-258E1151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5B36D-A351-06E1-15C7-CA6E36B3F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7BC62-22E4-5F3A-6343-AB4762222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399C3-2955-CA78-4DDA-BD7B6EE51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255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F548B-0C81-F736-E995-C0824FB6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73896-0E01-CA98-9B13-2C538084E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EA3EC-AB1C-A522-C9C5-5E628BD69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89D9-6279-184D-E382-A24512103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54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3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021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448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177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4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EADA-4E4C-4B1A-9E48-3505DC6F3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2C029-FAC1-43E3-B9B7-F97BA6807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61FF3-79C0-46B1-BA08-B040EC7C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AE842-F622-45E6-99F9-C03F2CE9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ECBD7-CA47-4E39-A78B-8B614829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87E5-8BCE-4773-956F-29D1847A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0ADC-A777-49C1-AAC1-86469815B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91A1-D9D9-42E9-89ED-B573D15F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FF5E-918F-49BB-B86C-6F681706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FA42-0180-496F-8332-BDA4FAD0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26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ECDF-A1AC-42AE-8967-311A28B7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9F214-0053-4BBB-A0D3-F9CF95306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97B61-572B-4AEC-9883-84BB3A79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F9E2A-B892-4E43-9B88-C126B447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F8D4-BA1D-4E56-90ED-EC0CE473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03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68CF-D16C-4AE5-8E3B-1C8010CB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8F6C6-FE33-4B5C-B847-3267C9519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DD897-B1B4-4F69-96B6-04052944B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46083-61F2-4EE3-85C9-63085B0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663BE-A080-4354-A5BF-21D63DED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7F3A5-ED21-4686-A0BA-47209F4D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4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7348-314C-4F82-8EAD-EEE92F8D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F9BBC-FD8F-4171-AAFE-591B95E5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528E5-8E01-46DC-835D-3CCC52468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40C01-3609-4132-84BD-6FD2E2491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79113-23A6-4A89-8018-068BA0EF9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65A4A-3AFB-4B93-BFA9-E3B87032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B786E-E60A-41D0-900A-59059E35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70413-F785-4A2C-9DCC-14DE9D66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22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78F6-B2C1-42ED-B4D6-5C047938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49150-944A-4A2F-9779-D8612D2D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2493A-F2E2-414A-87EF-12581896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472BA-03E9-406A-9B4C-1620007F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3B958-A54E-4794-9283-12F52BAB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06670-CAC4-4B3B-B6A2-F1F74642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4E8F4-B767-4C3E-8BE2-CFF00113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00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3F26-7A69-45D1-A5F7-ED4B2FBC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2DE6-AC58-49FD-BDC0-A4D9E6E3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E5F0C-44DA-4D48-AC20-81DFD680F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0C886-6799-4313-8079-C997E47A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56221-942F-4A81-9644-C74560FE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464BF-CAC5-4AE5-BA4B-96B1889B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02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2DB0-792B-4277-BC4D-B01775EB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1A0D9-D1C9-401D-AC7E-FE567BA4F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E8E93-0A55-4EEA-9621-A5F6A7608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EB92-D26D-4995-9FDD-12AB9D88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1A7F-FF0E-4AA9-8643-AEFB3237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C4A92-3897-445A-B2DC-CFE04355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75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D717-A333-40CD-B3D0-765392BD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8468B-302E-4E3D-9AE2-CA57DBD69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55DE0-0827-4D38-BAAB-61C29CEB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20463-033B-4D32-A6A7-5E2E4A39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D3FD-4DB3-4C4A-B762-87BEE780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29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DD97D-A7CC-4552-9251-EA6088EE0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372BB-FD61-415F-A9EC-C95501D76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0775-65FB-46E2-AE45-2CBAF6BE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69C82-7E3C-4F4E-BC3F-A4A669E6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98B74-8247-4929-9E4F-E6AA86A1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7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61E42-C33F-404F-9C3D-4452ED7C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A03C3-2A1F-43C1-83F5-9C808FB1E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105F0-C9DA-4B0B-9C1A-B06308C90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50185-C63E-410B-9859-207D71871265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2184B-A178-44BF-9A50-61BE00923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7F6A1-9260-4DDA-AEDA-87C6809AA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56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orms.office.com/r/YYNrqvuNr8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 descr="A graph with a person's face&#10;&#10;Description automatically generated">
            <a:extLst>
              <a:ext uri="{FF2B5EF4-FFF2-40B4-BE49-F238E27FC236}">
                <a16:creationId xmlns:a16="http://schemas.microsoft.com/office/drawing/2014/main" id="{CE9B71B9-2D84-B412-0F53-00B2B3136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F87D2C-0042-21FC-C64C-B5CF4C6F3EFF}"/>
              </a:ext>
            </a:extLst>
          </p:cNvPr>
          <p:cNvSpPr/>
          <p:nvPr/>
        </p:nvSpPr>
        <p:spPr>
          <a:xfrm>
            <a:off x="6705600" y="4429919"/>
            <a:ext cx="4775200" cy="1655762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latin typeface="ITFDEVANAGARI-BOOK" panose="02000000000000000000" pitchFamily="2" charset="0"/>
                <a:cs typeface="ITFDEVANAGARI-BOOK" panose="02000000000000000000" pitchFamily="2" charset="0"/>
              </a:rPr>
              <a:t>Introduction </a:t>
            </a:r>
          </a:p>
          <a:p>
            <a:pPr algn="ctr"/>
            <a:r>
              <a:rPr lang="en-GB" sz="5400" b="1" dirty="0">
                <a:latin typeface="ITFDEVANAGARI-BOOK" panose="02000000000000000000" pitchFamily="2" charset="0"/>
                <a:cs typeface="ITFDEVANAGARI-BOOK" panose="02000000000000000000" pitchFamily="2" charset="0"/>
              </a:rPr>
              <a:t>to Statistics</a:t>
            </a:r>
          </a:p>
        </p:txBody>
      </p:sp>
    </p:spTree>
    <p:extLst>
      <p:ext uri="{BB962C8B-B14F-4D97-AF65-F5344CB8AC3E}">
        <p14:creationId xmlns:p14="http://schemas.microsoft.com/office/powerpoint/2010/main" val="34099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5097229" y="510723"/>
            <a:ext cx="19975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Welcome!</a:t>
            </a:r>
            <a:endParaRPr lang="en-GB" sz="3200" i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4" name="Picture 3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CF99FF95-6482-7982-F5B3-29A1B1342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33" y="1659265"/>
            <a:ext cx="4332889" cy="2436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9EED0-BB6F-F848-059F-858C099A6512}"/>
              </a:ext>
            </a:extLst>
          </p:cNvPr>
          <p:cNvSpPr txBox="1"/>
          <p:nvPr/>
        </p:nvSpPr>
        <p:spPr>
          <a:xfrm>
            <a:off x="2385514" y="4348969"/>
            <a:ext cx="267332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Chris Oldnall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87A4E-0A3C-0FDA-B0A6-30ABFB84B996}"/>
              </a:ext>
            </a:extLst>
          </p:cNvPr>
          <p:cNvSpPr txBox="1"/>
          <p:nvPr/>
        </p:nvSpPr>
        <p:spPr>
          <a:xfrm>
            <a:off x="7024464" y="4346062"/>
            <a:ext cx="289071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Aybuke Atalay</a:t>
            </a:r>
            <a:endParaRPr lang="en-US" dirty="0"/>
          </a:p>
        </p:txBody>
      </p:sp>
      <p:pic>
        <p:nvPicPr>
          <p:cNvPr id="1026" name="Picture 2" descr="a woman in a raincoat sat on a rock with a view of an archipelago">
            <a:extLst>
              <a:ext uri="{FF2B5EF4-FFF2-40B4-BE49-F238E27FC236}">
                <a16:creationId xmlns:a16="http://schemas.microsoft.com/office/drawing/2014/main" id="{DA55C6B1-22E5-D508-8716-24122D36B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378" y="1655537"/>
            <a:ext cx="4332889" cy="243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79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 dirty="0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 dirty="0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 dirty="0">
                <a:solidFill>
                  <a:srgbClr val="002E5F"/>
                </a:solidFill>
              </a:rPr>
              <a:t>	</a:t>
            </a:r>
            <a:endParaRPr lang="en-GB" i="1" dirty="0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 dirty="0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246037" y="541485"/>
            <a:ext cx="483925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Descriptive vs Inferential</a:t>
            </a:r>
            <a:endParaRPr lang="en-GB" sz="3200" i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156BC-AA66-F7C0-24B4-D2DB18827053}"/>
              </a:ext>
            </a:extLst>
          </p:cNvPr>
          <p:cNvSpPr txBox="1"/>
          <p:nvPr/>
        </p:nvSpPr>
        <p:spPr>
          <a:xfrm>
            <a:off x="6823226" y="1966349"/>
            <a:ext cx="483925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none" strike="noStrike" dirty="0">
                <a:solidFill>
                  <a:srgbClr val="374151"/>
                </a:solidFill>
                <a:effectLst/>
                <a:latin typeface="Söhne"/>
              </a:rPr>
              <a:t>Inferential statistics, aims to make predictions or draw conclusions about a population based on a sample of data, using probability theory and statistical inference techniques like hypothesis testing and confidence intervals.</a:t>
            </a:r>
            <a:endParaRPr lang="en-GB" sz="2400" i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7A129-E61F-3F03-F8E7-8349E467FAC2}"/>
              </a:ext>
            </a:extLst>
          </p:cNvPr>
          <p:cNvSpPr txBox="1"/>
          <p:nvPr/>
        </p:nvSpPr>
        <p:spPr>
          <a:xfrm>
            <a:off x="735086" y="1708786"/>
            <a:ext cx="483925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i="0" u="none" strike="noStrike" dirty="0">
                <a:solidFill>
                  <a:srgbClr val="374151"/>
                </a:solidFill>
                <a:effectLst/>
                <a:latin typeface="Söhne"/>
              </a:rPr>
              <a:t>Descriptive statistics involve summarising and presenting the main features of a dataset, such as measures of central tendency (mean, median, mode) and measures of variability (range, standard deviation), along with identifying the distribution of the data.</a:t>
            </a:r>
            <a:endParaRPr lang="en-GB" sz="2400" b="1" i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61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F24172-CD57-4595-8E33-D7120E4CF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96" y="400584"/>
            <a:ext cx="3831944" cy="7541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E97E92-32AB-4C48-82A5-1E30001ACB6A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FD67A-C976-4C84-A848-3C9F53B274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8DB050-4806-4313-9B74-AA38CD2AF605}"/>
              </a:ext>
            </a:extLst>
          </p:cNvPr>
          <p:cNvSpPr/>
          <p:nvPr/>
        </p:nvSpPr>
        <p:spPr>
          <a:xfrm>
            <a:off x="5058930" y="6400800"/>
            <a:ext cx="2219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4BBF0-BFF5-48AA-B957-02552792D74C}"/>
              </a:ext>
            </a:extLst>
          </p:cNvPr>
          <p:cNvSpPr txBox="1"/>
          <p:nvPr/>
        </p:nvSpPr>
        <p:spPr>
          <a:xfrm>
            <a:off x="494596" y="1700360"/>
            <a:ext cx="5480979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3200" b="1" i="0" dirty="0">
                <a:solidFill>
                  <a:srgbClr val="002060"/>
                </a:solidFill>
                <a:effectLst/>
                <a:latin typeface="Integral CF Bold" panose="00000800000000000000" pitchFamily="50" charset="0"/>
              </a:rPr>
              <a:t>Session A:</a:t>
            </a:r>
          </a:p>
          <a:p>
            <a:pPr>
              <a:lnSpc>
                <a:spcPct val="120000"/>
              </a:lnSpc>
            </a:pPr>
            <a:r>
              <a:rPr lang="en-GB" sz="3200" b="1" dirty="0">
                <a:solidFill>
                  <a:srgbClr val="002060"/>
                </a:solidFill>
                <a:latin typeface="Integral CF Bold" panose="00000800000000000000" pitchFamily="50" charset="0"/>
              </a:rPr>
              <a:t>Measures of Central Tendency and Spread</a:t>
            </a:r>
            <a:endParaRPr lang="en-GB" sz="3200" b="1" i="0" dirty="0">
              <a:solidFill>
                <a:srgbClr val="002060"/>
              </a:solidFill>
              <a:effectLst/>
              <a:latin typeface="Integral CF Bold" panose="00000800000000000000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D403B-966F-453F-9F01-EB2D480A5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293" y="-730896"/>
            <a:ext cx="2721028" cy="272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23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E32CF2-CF40-368A-90A7-F2BFF11B3BEF}"/>
              </a:ext>
            </a:extLst>
          </p:cNvPr>
          <p:cNvSpPr txBox="1"/>
          <p:nvPr/>
        </p:nvSpPr>
        <p:spPr>
          <a:xfrm>
            <a:off x="3345458" y="279063"/>
            <a:ext cx="664040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What is a measure of central tendency?</a:t>
            </a:r>
          </a:p>
        </p:txBody>
      </p:sp>
      <p:pic>
        <p:nvPicPr>
          <p:cNvPr id="3074" name="Picture 2" descr="Measures of Central Tendency &amp; Examples">
            <a:extLst>
              <a:ext uri="{FF2B5EF4-FFF2-40B4-BE49-F238E27FC236}">
                <a16:creationId xmlns:a16="http://schemas.microsoft.com/office/drawing/2014/main" id="{98A5894A-EE55-B896-7339-28AF98252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63" b="10815"/>
          <a:stretch>
            <a:fillRect/>
          </a:stretch>
        </p:blipFill>
        <p:spPr bwMode="auto">
          <a:xfrm>
            <a:off x="1394670" y="2394386"/>
            <a:ext cx="9525000" cy="227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69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CC5D-92BA-8830-C589-D4F4FEEC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9B1BD9-F614-6B16-BE7C-39D672147B8E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2A37F-4217-134E-464B-4C704E90B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A8C5CD-D7A2-568F-6E4C-5F2E40307515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8FC735-BB37-62A1-E1F6-1AF6F2A6CDBB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6E27E6-6B04-0ED8-4B16-453E45ABBA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2797CD-F1B8-6A8E-06DB-B9A544C7D9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C02546-00B4-E073-CDE4-92940F8FA87E}"/>
              </a:ext>
            </a:extLst>
          </p:cNvPr>
          <p:cNvSpPr txBox="1"/>
          <p:nvPr/>
        </p:nvSpPr>
        <p:spPr>
          <a:xfrm>
            <a:off x="3345458" y="279063"/>
            <a:ext cx="66404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The median.</a:t>
            </a:r>
          </a:p>
        </p:txBody>
      </p:sp>
      <p:pic>
        <p:nvPicPr>
          <p:cNvPr id="4098" name="Picture 2" descr="Finding the Median: An Easy To Understand Guide">
            <a:extLst>
              <a:ext uri="{FF2B5EF4-FFF2-40B4-BE49-F238E27FC236}">
                <a16:creationId xmlns:a16="http://schemas.microsoft.com/office/drawing/2014/main" id="{199C4363-CDEA-E3C4-2B69-FF81D0BD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150" y="1567260"/>
            <a:ext cx="57277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82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F039-BD0E-0CD5-BC9A-813E54C2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D2C1E1-F0BC-51CF-2BFF-754DA4C956B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80826-C5DE-4C38-1B2F-F2C51B2E9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5BE345-3036-08A8-1C5D-BDA38D6CEB9D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5229D-E7C3-3311-2D07-1549CB1D0B93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E6E103-6662-702A-9681-A27208E547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71C195-B815-09C1-CCB1-2B2494F49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9F9ABA-4293-01B3-5E34-68D321C691EA}"/>
              </a:ext>
            </a:extLst>
          </p:cNvPr>
          <p:cNvSpPr txBox="1"/>
          <p:nvPr/>
        </p:nvSpPr>
        <p:spPr>
          <a:xfrm>
            <a:off x="3345458" y="279063"/>
            <a:ext cx="66404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The mode.</a:t>
            </a:r>
          </a:p>
        </p:txBody>
      </p:sp>
      <p:pic>
        <p:nvPicPr>
          <p:cNvPr id="5122" name="Picture 2" descr="How to calculate the Mean, Mode, Median and Range in Maths">
            <a:extLst>
              <a:ext uri="{FF2B5EF4-FFF2-40B4-BE49-F238E27FC236}">
                <a16:creationId xmlns:a16="http://schemas.microsoft.com/office/drawing/2014/main" id="{A5B39177-5599-4313-FE01-4E558D673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811" y="1655723"/>
            <a:ext cx="5592378" cy="294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62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CD74-AB38-12F1-2FE0-B7C0A83D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270C6E-C4E3-79A9-BB84-3373BC1815A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D2FFA-B3E8-7F9B-1AF3-B326C93FC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4C617A-2198-833E-E643-AB22690E1BCD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75FF87-E14A-3FC7-333B-ABBC851F48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2D095F-6285-63CC-4B46-CB986BCC2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1061F6-9C3D-CD21-98FC-8C864C272862}"/>
              </a:ext>
            </a:extLst>
          </p:cNvPr>
          <p:cNvSpPr txBox="1"/>
          <p:nvPr/>
        </p:nvSpPr>
        <p:spPr>
          <a:xfrm>
            <a:off x="3345458" y="279063"/>
            <a:ext cx="66404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The mean.</a:t>
            </a:r>
          </a:p>
        </p:txBody>
      </p:sp>
      <p:pic>
        <p:nvPicPr>
          <p:cNvPr id="6146" name="Picture 2" descr="Mean in Statistics - GeeksforGeeks">
            <a:extLst>
              <a:ext uri="{FF2B5EF4-FFF2-40B4-BE49-F238E27FC236}">
                <a16:creationId xmlns:a16="http://schemas.microsoft.com/office/drawing/2014/main" id="{0C1451F7-8313-E1E8-9D63-7B9456A2A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64948"/>
            <a:ext cx="8382000" cy="257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1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E32CF2-CF40-368A-90A7-F2BFF11B3BEF}"/>
              </a:ext>
            </a:extLst>
          </p:cNvPr>
          <p:cNvSpPr txBox="1"/>
          <p:nvPr/>
        </p:nvSpPr>
        <p:spPr>
          <a:xfrm>
            <a:off x="3384048" y="290763"/>
            <a:ext cx="656323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What is a measure of spread (or dispersion?</a:t>
            </a:r>
          </a:p>
        </p:txBody>
      </p:sp>
      <p:pic>
        <p:nvPicPr>
          <p:cNvPr id="7170" name="Picture 2" descr="Explain the idea underlying the measures of dispersion and the reasons of  their importance. – GET INTO STATS">
            <a:extLst>
              <a:ext uri="{FF2B5EF4-FFF2-40B4-BE49-F238E27FC236}">
                <a16:creationId xmlns:a16="http://schemas.microsoft.com/office/drawing/2014/main" id="{F185D125-2DCF-05E5-7520-316B75181A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11" r="52542"/>
          <a:stretch>
            <a:fillRect/>
          </a:stretch>
        </p:blipFill>
        <p:spPr bwMode="auto">
          <a:xfrm>
            <a:off x="1318631" y="2289514"/>
            <a:ext cx="2314752" cy="326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81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E3FB-EC76-9708-D892-A2ECA0F6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E532A5-995B-2BAD-4AC4-76E3007A4377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F12FD2-F15A-3035-019E-0BFF5A856B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8BDD93-F75A-4347-67EF-D89F5A96F276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B9E779-4E8A-093B-C875-5D466917F9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C63885-D8BD-3FE0-0520-7DD89CD77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269794-5AF2-1D2B-79E3-9E6E4806FF0E}"/>
              </a:ext>
            </a:extLst>
          </p:cNvPr>
          <p:cNvSpPr txBox="1"/>
          <p:nvPr/>
        </p:nvSpPr>
        <p:spPr>
          <a:xfrm>
            <a:off x="3345458" y="279063"/>
            <a:ext cx="66404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The range.</a:t>
            </a:r>
          </a:p>
        </p:txBody>
      </p:sp>
      <p:pic>
        <p:nvPicPr>
          <p:cNvPr id="8194" name="Picture 2" descr="Range in Statistics - Cuemath">
            <a:extLst>
              <a:ext uri="{FF2B5EF4-FFF2-40B4-BE49-F238E27FC236}">
                <a16:creationId xmlns:a16="http://schemas.microsoft.com/office/drawing/2014/main" id="{50C6E1CA-F7ED-4FA5-C135-35AACBF0F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192" y="1568380"/>
            <a:ext cx="8357616" cy="360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41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C2D7-E707-1F79-30DC-0CAF46B7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1116BF-D1DB-5C7F-3E5F-EF7C8D524B6C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9E51A-5DA7-378F-2EF9-6F6F54C80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7C9FA0F-F64D-82A2-ACA4-8F7C49CA6853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52D821-84F9-D7B0-4137-A06F107024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EA618B-A610-2A07-D163-EC1087168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698B5A-C635-0EEE-A89F-C29F5F2C246D}"/>
              </a:ext>
            </a:extLst>
          </p:cNvPr>
          <p:cNvSpPr txBox="1"/>
          <p:nvPr/>
        </p:nvSpPr>
        <p:spPr>
          <a:xfrm>
            <a:off x="3345458" y="279063"/>
            <a:ext cx="66404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The IQR.</a:t>
            </a:r>
          </a:p>
        </p:txBody>
      </p:sp>
      <p:pic>
        <p:nvPicPr>
          <p:cNvPr id="9218" name="Picture 2" descr="How to Find Interquartile Range (IQR) | Calculator &amp; Examples">
            <a:extLst>
              <a:ext uri="{FF2B5EF4-FFF2-40B4-BE49-F238E27FC236}">
                <a16:creationId xmlns:a16="http://schemas.microsoft.com/office/drawing/2014/main" id="{3F0A7984-9F02-570A-0E8B-BA46C9035C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" t="10710" r="2772" b="19355"/>
          <a:stretch>
            <a:fillRect/>
          </a:stretch>
        </p:blipFill>
        <p:spPr bwMode="auto">
          <a:xfrm>
            <a:off x="1883663" y="1646932"/>
            <a:ext cx="8467345" cy="332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01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9904-16AE-0011-8730-9E6C7EC5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E59038-0560-8AF3-7368-D58B427B561C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290FE-8FB9-B08A-4A50-67E1A728CF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F130B6-12AA-BF57-EFCA-66CF8418F776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32AEE2-7393-2C20-7E04-9071CA3B84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04953E-2E73-1DDE-1479-36322E450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AF4D25-C4B8-865B-21A4-8E13EC32C145}"/>
              </a:ext>
            </a:extLst>
          </p:cNvPr>
          <p:cNvSpPr txBox="1"/>
          <p:nvPr/>
        </p:nvSpPr>
        <p:spPr>
          <a:xfrm>
            <a:off x="3345458" y="279063"/>
            <a:ext cx="66404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Standard Deviation.</a:t>
            </a:r>
          </a:p>
        </p:txBody>
      </p:sp>
      <p:pic>
        <p:nvPicPr>
          <p:cNvPr id="10242" name="Picture 2" descr="Variance - Definition, Symbol, Formula, Properties, and Examples">
            <a:extLst>
              <a:ext uri="{FF2B5EF4-FFF2-40B4-BE49-F238E27FC236}">
                <a16:creationId xmlns:a16="http://schemas.microsoft.com/office/drawing/2014/main" id="{FE68B8A0-9601-7692-A55E-F26427132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24" b="6000"/>
          <a:stretch>
            <a:fillRect/>
          </a:stretch>
        </p:blipFill>
        <p:spPr bwMode="auto">
          <a:xfrm>
            <a:off x="2868168" y="1372450"/>
            <a:ext cx="6455664" cy="370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02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2BEA-2A60-3F2F-EF90-59A04A34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E4F93B-54FF-89DB-730B-890D8705076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5FBC6C-E5E4-C9C0-E282-EB4B56FA06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AE041B-86BA-B715-8D73-7429EFF340B9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7102F-4882-59AA-8466-3A55105AB632}"/>
              </a:ext>
            </a:extLst>
          </p:cNvPr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676EC-9AA2-EFE3-BE58-E951EC5311A3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8CFA43-96B9-3EC6-D405-157639B8CD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68421CF-CB0E-E884-EF8F-8FF563442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4733A7-B6A7-F16C-697E-071B96789B1E}"/>
              </a:ext>
            </a:extLst>
          </p:cNvPr>
          <p:cNvSpPr txBox="1"/>
          <p:nvPr/>
        </p:nvSpPr>
        <p:spPr>
          <a:xfrm>
            <a:off x="419698" y="3343009"/>
            <a:ext cx="1085637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Notebook A: </a:t>
            </a:r>
          </a:p>
          <a:p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What are summary statistics?</a:t>
            </a:r>
            <a:endParaRPr lang="en-GB" sz="32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B8BAA-5F9B-CAE8-9563-DEADAEB7FFCE}"/>
              </a:ext>
            </a:extLst>
          </p:cNvPr>
          <p:cNvSpPr txBox="1"/>
          <p:nvPr/>
        </p:nvSpPr>
        <p:spPr>
          <a:xfrm>
            <a:off x="3379211" y="873742"/>
            <a:ext cx="657290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 panose="020F0502020204030204"/>
              </a:rPr>
              <a:t>Let's do some programming</a:t>
            </a:r>
            <a:endParaRPr lang="en-GB" i="1" dirty="0">
              <a:solidFill>
                <a:schemeClr val="accent5">
                  <a:lumMod val="50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2818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3B75-5F37-66C6-C4E2-6C8ED11A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546A01-2EF8-00C9-B6DA-CA6E24535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A4C38E-FB12-B089-2849-8132C0536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96" y="400584"/>
            <a:ext cx="3831944" cy="7541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47BEA2-56B5-6A60-BB1B-3192286859D8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8DA68B-8FDB-78DA-676F-4C0A262E05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522DAB-6567-90B1-B0A4-02C22F089DD4}"/>
              </a:ext>
            </a:extLst>
          </p:cNvPr>
          <p:cNvSpPr/>
          <p:nvPr/>
        </p:nvSpPr>
        <p:spPr>
          <a:xfrm>
            <a:off x="5058930" y="6400800"/>
            <a:ext cx="2219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A5273-56FD-B587-2805-7A2168854AEB}"/>
              </a:ext>
            </a:extLst>
          </p:cNvPr>
          <p:cNvSpPr txBox="1"/>
          <p:nvPr/>
        </p:nvSpPr>
        <p:spPr>
          <a:xfrm>
            <a:off x="494596" y="1700360"/>
            <a:ext cx="5480979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3200" b="1" i="0" dirty="0">
                <a:solidFill>
                  <a:srgbClr val="002060"/>
                </a:solidFill>
                <a:effectLst/>
                <a:latin typeface="Integral CF Bold" panose="00000800000000000000" pitchFamily="50" charset="0"/>
              </a:rPr>
              <a:t>Session B:</a:t>
            </a:r>
          </a:p>
          <a:p>
            <a:pPr>
              <a:lnSpc>
                <a:spcPct val="120000"/>
              </a:lnSpc>
            </a:pPr>
            <a:r>
              <a:rPr lang="en-GB" sz="3200" b="1" dirty="0">
                <a:solidFill>
                  <a:srgbClr val="002060"/>
                </a:solidFill>
                <a:latin typeface="Integral CF Bold" panose="00000800000000000000" pitchFamily="50" charset="0"/>
              </a:rPr>
              <a:t>Distributions and Visualising Statistics</a:t>
            </a:r>
            <a:endParaRPr lang="en-GB" sz="3200" b="1" i="0" dirty="0">
              <a:solidFill>
                <a:srgbClr val="002060"/>
              </a:solidFill>
              <a:effectLst/>
              <a:latin typeface="Integral CF Bold" panose="00000800000000000000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0357AD-B0C9-485C-241B-4C649ECA38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293" y="-730896"/>
            <a:ext cx="2721028" cy="272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40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E32CF2-CF40-368A-90A7-F2BFF11B3BEF}"/>
              </a:ext>
            </a:extLst>
          </p:cNvPr>
          <p:cNvSpPr txBox="1"/>
          <p:nvPr/>
        </p:nvSpPr>
        <p:spPr>
          <a:xfrm>
            <a:off x="3724755" y="400842"/>
            <a:ext cx="66009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What is a distribution?</a:t>
            </a:r>
          </a:p>
        </p:txBody>
      </p:sp>
      <p:pic>
        <p:nvPicPr>
          <p:cNvPr id="3" name="Picture 2" descr="A group of blue graph&#10;&#10;Description automatically generated with medium confidence">
            <a:extLst>
              <a:ext uri="{FF2B5EF4-FFF2-40B4-BE49-F238E27FC236}">
                <a16:creationId xmlns:a16="http://schemas.microsoft.com/office/drawing/2014/main" id="{056AE709-8C97-8F2D-CB1C-76E43B6488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32" y="1580738"/>
            <a:ext cx="6600935" cy="36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E32CF2-CF40-368A-90A7-F2BFF11B3BEF}"/>
              </a:ext>
            </a:extLst>
          </p:cNvPr>
          <p:cNvSpPr txBox="1"/>
          <p:nvPr/>
        </p:nvSpPr>
        <p:spPr>
          <a:xfrm>
            <a:off x="459941" y="2289514"/>
            <a:ext cx="343337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 dirty="0">
                <a:solidFill>
                  <a:srgbClr val="002E5F"/>
                </a:solidFill>
                <a:latin typeface="Source Sans Pro"/>
                <a:ea typeface="Source Sans Pro"/>
                <a:cs typeface="Calibri"/>
              </a:rPr>
              <a:t>The normal distribution</a:t>
            </a:r>
          </a:p>
        </p:txBody>
      </p:sp>
      <p:pic>
        <p:nvPicPr>
          <p:cNvPr id="3" name="Picture 2" descr="A diagram of a bell curve&#10;&#10;Description automatically generated">
            <a:extLst>
              <a:ext uri="{FF2B5EF4-FFF2-40B4-BE49-F238E27FC236}">
                <a16:creationId xmlns:a16="http://schemas.microsoft.com/office/drawing/2014/main" id="{EB694CBB-E26D-9D26-A4B9-673746CA4A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421" y="290763"/>
            <a:ext cx="5923331" cy="493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6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19698" y="3343009"/>
            <a:ext cx="1085637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Notebook B: </a:t>
            </a:r>
          </a:p>
          <a:p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Identifying distributions.</a:t>
            </a:r>
            <a:endParaRPr lang="en-GB" sz="32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0D4BB-D968-ED67-40A1-1BC03D5ED9B3}"/>
              </a:ext>
            </a:extLst>
          </p:cNvPr>
          <p:cNvSpPr txBox="1"/>
          <p:nvPr/>
        </p:nvSpPr>
        <p:spPr>
          <a:xfrm>
            <a:off x="3379211" y="873742"/>
            <a:ext cx="657290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 panose="020F0502020204030204"/>
              </a:rPr>
              <a:t>Let's do some programming</a:t>
            </a:r>
            <a:endParaRPr lang="en-GB" i="1" dirty="0">
              <a:solidFill>
                <a:schemeClr val="accent5">
                  <a:lumMod val="50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815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1070932" y="1538023"/>
            <a:ext cx="10091153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Feedback for us...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GB" sz="28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We hope you've enjoyed the course as much as we did.</a:t>
            </a:r>
            <a:endParaRPr lang="en-GB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It is really useful for us to hear your feedback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400" b="0" i="0" dirty="0">
                <a:effectLst/>
                <a:latin typeface="Calibri" panose="020F0502020204030204" pitchFamily="34" charset="0"/>
                <a:hlinkClick r:id="rId6"/>
              </a:rPr>
              <a:t>https://forms.office.com/r/YYNrqvuNr8</a:t>
            </a:r>
            <a:endParaRPr lang="en-GB" sz="2400" b="0" i="0" dirty="0"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chemeClr val="accent5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Should be really quick and only take 5 mins (maximum!)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560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313346" y="892076"/>
            <a:ext cx="356530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Thank you from us!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6" name="Picture 5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186806D4-ECE8-4186-7886-6422020C1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039" y="1923611"/>
            <a:ext cx="2780987" cy="16435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49D8B0-051F-7EC4-E680-94D6C379DF7B}"/>
              </a:ext>
            </a:extLst>
          </p:cNvPr>
          <p:cNvSpPr txBox="1"/>
          <p:nvPr/>
        </p:nvSpPr>
        <p:spPr>
          <a:xfrm>
            <a:off x="5415238" y="2459504"/>
            <a:ext cx="566243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Please do check out the other training on the CDCS website. We have lots of different things still on offer this semester!</a:t>
            </a:r>
          </a:p>
        </p:txBody>
      </p:sp>
      <p:pic>
        <p:nvPicPr>
          <p:cNvPr id="4" name="Picture 2" descr="a woman in a raincoat sat on a rock with a view of an archipelago">
            <a:extLst>
              <a:ext uri="{FF2B5EF4-FFF2-40B4-BE49-F238E27FC236}">
                <a16:creationId xmlns:a16="http://schemas.microsoft.com/office/drawing/2014/main" id="{21FC5E06-ADFB-F227-675D-747D2C26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039" y="3567134"/>
            <a:ext cx="2780987" cy="156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43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cecb87-7127-4cec-8ade-f39cabdda460">
      <Terms xmlns="http://schemas.microsoft.com/office/infopath/2007/PartnerControls"/>
    </lcf76f155ced4ddcb4097134ff3c332f>
    <TaxCatchAll xmlns="e0533433-c614-42f1-a6db-1e117b426f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F3C4344107B142896AFF4BAB57AEE6" ma:contentTypeVersion="17" ma:contentTypeDescription="Create a new document." ma:contentTypeScope="" ma:versionID="04b742c5bf569d2debdb498bb1277d78">
  <xsd:schema xmlns:xsd="http://www.w3.org/2001/XMLSchema" xmlns:xs="http://www.w3.org/2001/XMLSchema" xmlns:p="http://schemas.microsoft.com/office/2006/metadata/properties" xmlns:ns2="a4cecb87-7127-4cec-8ade-f39cabdda460" xmlns:ns3="e0533433-c614-42f1-a6db-1e117b426f00" targetNamespace="http://schemas.microsoft.com/office/2006/metadata/properties" ma:root="true" ma:fieldsID="e889253071e53db095a262fdc7b35583" ns2:_="" ns3:_="">
    <xsd:import namespace="a4cecb87-7127-4cec-8ade-f39cabdda460"/>
    <xsd:import namespace="e0533433-c614-42f1-a6db-1e117b426f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cecb87-7127-4cec-8ade-f39cabdda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4eff52-6b6d-4e5f-a3b0-187f185b1d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3433-c614-42f1-a6db-1e117b426f0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e52b77c-496f-4984-9256-af5fcad5ff1d}" ma:internalName="TaxCatchAll" ma:showField="CatchAllData" ma:web="e0533433-c614-42f1-a6db-1e117b426f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FA59BC-CBBA-42CD-8476-A69FA17DEB33}">
  <ds:schemaRefs>
    <ds:schemaRef ds:uri="a4cecb87-7127-4cec-8ade-f39cabdda460"/>
    <ds:schemaRef ds:uri="http://purl.org/dc/elements/1.1/"/>
    <ds:schemaRef ds:uri="http://schemas.microsoft.com/office/2006/documentManagement/types"/>
    <ds:schemaRef ds:uri="http://schemas.microsoft.com/office/2006/metadata/properties"/>
    <ds:schemaRef ds:uri="e0533433-c614-42f1-a6db-1e117b426f00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FDC4122-D1B9-4833-BECF-35C513D2299A}">
  <ds:schemaRefs>
    <ds:schemaRef ds:uri="a4cecb87-7127-4cec-8ade-f39cabdda460"/>
    <ds:schemaRef ds:uri="e0533433-c614-42f1-a6db-1e117b426f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4EF80F7-0B9A-4CE5-9AE8-3D93976412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442</Words>
  <Application>Microsoft Macintosh PowerPoint</Application>
  <PresentationFormat>Widescreen</PresentationFormat>
  <Paragraphs>96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Integral CF Bold</vt:lpstr>
      <vt:lpstr>Calibri Light</vt:lpstr>
      <vt:lpstr>Arial</vt:lpstr>
      <vt:lpstr>Calibri</vt:lpstr>
      <vt:lpstr>ITFDEVANAGARI-BOOK</vt:lpstr>
      <vt:lpstr>Söhne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MICHIELIN Lucia</dc:creator>
  <cp:lastModifiedBy>Chris Oldnall</cp:lastModifiedBy>
  <cp:revision>10</cp:revision>
  <dcterms:created xsi:type="dcterms:W3CDTF">2020-12-14T07:57:59Z</dcterms:created>
  <dcterms:modified xsi:type="dcterms:W3CDTF">2025-12-04T15:14:51Z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0x010100ADF3C4344107B142896AFF4BAB57AEE6</vt:lpwstr>
  </property>
  <property fmtid="{D5CDD505-2E9C-101B-9397-08002B2CF9AE}" pid="3" name="MediaServiceImageTags">
    <vt:lpwstr/>
  </property>
</Properties>
</file>